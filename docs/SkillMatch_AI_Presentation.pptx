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3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SkillMatch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E4673"/>
                </a:solidFill>
              </a:defRPr>
            </a:pPr>
            <a:r>
              <a:t>Skill-based Career &amp; Job Recommendation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2D3746"/>
                </a:solidFill>
              </a:defRPr>
            </a:pPr>
            <a:r>
              <a:t>AICTE Machine Learning Program</a:t>
            </a:r>
          </a:p>
          <a:p>
            <a:pPr>
              <a:spcAft>
                <a:spcPts val="1600"/>
              </a:spcAft>
              <a:defRPr sz="2200">
                <a:solidFill>
                  <a:srgbClr val="2D3746"/>
                </a:solidFill>
              </a:defRPr>
            </a:pPr>
            <a:r>
              <a:t>SDG 8: Decent Work and Economic Growth</a:t>
            </a:r>
          </a:p>
          <a:p>
            <a:pPr>
              <a:spcAft>
                <a:spcPts val="1600"/>
              </a:spcAft>
              <a:defRPr sz="2200">
                <a:solidFill>
                  <a:srgbClr val="2D3746"/>
                </a:solidFill>
              </a:defRPr>
            </a:pPr>
            <a:r>
              <a:t>Prepared by: ____________________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SkillMatch AI | AICTE Machine Learning Program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3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2D3746"/>
                </a:solidFill>
              </a:defRPr>
            </a:pPr>
            <a:r>
              <a:t>Students can struggle to connect current skills with suitable entry-level roles.</a:t>
            </a:r>
          </a:p>
          <a:p>
            <a:pPr>
              <a:spcAft>
                <a:spcPts val="1600"/>
              </a:spcAft>
              <a:defRPr sz="2200">
                <a:solidFill>
                  <a:srgbClr val="2D3746"/>
                </a:solidFill>
              </a:defRPr>
            </a:pPr>
            <a:r>
              <a:t>Generic career advice may not clearly identify skills to learn next.</a:t>
            </a:r>
          </a:p>
          <a:p>
            <a:pPr>
              <a:spcAft>
                <a:spcPts val="1600"/>
              </a:spcAft>
              <a:defRPr sz="2200">
                <a:solidFill>
                  <a:srgbClr val="2D3746"/>
                </a:solidFill>
              </a:defRPr>
            </a:pPr>
            <a:r>
              <a:t>Goal: provide transparent, skill-based role suggestions—not hiring predictions.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SkillMatch AI | AICTE Machine Learning Program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3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2D3746"/>
                </a:solidFill>
              </a:defRPr>
            </a:pPr>
            <a:r>
              <a:t>User selects or types technical skills.</a:t>
            </a:r>
          </a:p>
          <a:p>
            <a:pPr>
              <a:spcAft>
                <a:spcPts val="1600"/>
              </a:spcAft>
              <a:defRPr sz="2200">
                <a:solidFill>
                  <a:srgbClr val="2D3746"/>
                </a:solidFill>
              </a:defRPr>
            </a:pPr>
            <a:r>
              <a:t>System compares the skill text with role requirement profiles.</a:t>
            </a:r>
          </a:p>
          <a:p>
            <a:pPr>
              <a:spcAft>
                <a:spcPts val="1600"/>
              </a:spcAft>
              <a:defRPr sz="2200">
                <a:solidFill>
                  <a:srgbClr val="2D3746"/>
                </a:solidFill>
              </a:defRPr>
            </a:pPr>
            <a:r>
              <a:t>Ranks the closest role matches and shows learning gaps.</a:t>
            </a:r>
          </a:p>
          <a:p>
            <a:pPr>
              <a:spcAft>
                <a:spcPts val="1600"/>
              </a:spcAft>
              <a:defRPr sz="2200">
                <a:solidFill>
                  <a:srgbClr val="2D3746"/>
                </a:solidFill>
              </a:defRPr>
            </a:pPr>
            <a:r>
              <a:t>Users can download recommendations as CSV.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SkillMatch AI | AICTE Machine Learning Program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3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2D3746"/>
                </a:solidFill>
              </a:defRPr>
            </a:pPr>
            <a:r>
              <a:t>Build a working web app in Python and Streamlit.</a:t>
            </a:r>
          </a:p>
          <a:p>
            <a:pPr>
              <a:spcAft>
                <a:spcPts val="1600"/>
              </a:spcAft>
              <a:defRPr sz="2200">
                <a:solidFill>
                  <a:srgbClr val="2D3746"/>
                </a:solidFill>
              </a:defRPr>
            </a:pPr>
            <a:r>
              <a:t>Apply TF-IDF to represent skill text numerically.</a:t>
            </a:r>
          </a:p>
          <a:p>
            <a:pPr>
              <a:spcAft>
                <a:spcPts val="1600"/>
              </a:spcAft>
              <a:defRPr sz="2200">
                <a:solidFill>
                  <a:srgbClr val="2D3746"/>
                </a:solidFill>
              </a:defRPr>
            </a:pPr>
            <a:r>
              <a:t>Use cosine similarity to rank role profiles.</a:t>
            </a:r>
          </a:p>
          <a:p>
            <a:pPr>
              <a:spcAft>
                <a:spcPts val="1600"/>
              </a:spcAft>
              <a:defRPr sz="2200">
                <a:solidFill>
                  <a:srgbClr val="2D3746"/>
                </a:solidFill>
              </a:defRPr>
            </a:pPr>
            <a:r>
              <a:t>Present results clearly and document limitations.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SkillMatch AI | AICTE Machine Learning Program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3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2D3746"/>
                </a:solidFill>
              </a:defRPr>
            </a:pPr>
            <a:r>
              <a:t>Python — application logic</a:t>
            </a:r>
          </a:p>
          <a:p>
            <a:pPr>
              <a:spcAft>
                <a:spcPts val="1600"/>
              </a:spcAft>
              <a:defRPr sz="2200">
                <a:solidFill>
                  <a:srgbClr val="2D3746"/>
                </a:solidFill>
              </a:defRPr>
            </a:pPr>
            <a:r>
              <a:t>Streamlit — interactive web interface</a:t>
            </a:r>
          </a:p>
          <a:p>
            <a:pPr>
              <a:spcAft>
                <a:spcPts val="1600"/>
              </a:spcAft>
              <a:defRPr sz="2200">
                <a:solidFill>
                  <a:srgbClr val="2D3746"/>
                </a:solidFill>
              </a:defRPr>
            </a:pPr>
            <a:r>
              <a:t>pandas — read and manage the CSV dataset</a:t>
            </a:r>
          </a:p>
          <a:p>
            <a:pPr>
              <a:spcAft>
                <a:spcPts val="1600"/>
              </a:spcAft>
              <a:defRPr sz="2200">
                <a:solidFill>
                  <a:srgbClr val="2D3746"/>
                </a:solidFill>
              </a:defRPr>
            </a:pPr>
            <a:r>
              <a:t>scikit-learn — TF-IDF and cosine similarity</a:t>
            </a:r>
          </a:p>
          <a:p>
            <a:pPr>
              <a:spcAft>
                <a:spcPts val="1600"/>
              </a:spcAft>
              <a:defRPr sz="2200">
                <a:solidFill>
                  <a:srgbClr val="2D3746"/>
                </a:solidFill>
              </a:defRPr>
            </a:pPr>
            <a:r>
              <a:t>CSV — illustrative role and skill catalogue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SkillMatch AI | AICTE Machine Learning Program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3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How the Matching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2D3746"/>
                </a:solidFill>
              </a:defRPr>
            </a:pPr>
            <a:r>
              <a:t>1. Collect user-entered skills.</a:t>
            </a:r>
          </a:p>
          <a:p>
            <a:pPr>
              <a:spcAft>
                <a:spcPts val="1600"/>
              </a:spcAft>
              <a:defRPr sz="2200">
                <a:solidFill>
                  <a:srgbClr val="2D3746"/>
                </a:solidFill>
              </a:defRPr>
            </a:pPr>
            <a:r>
              <a:t>2. Combine user skills with role skill descriptions.</a:t>
            </a:r>
          </a:p>
          <a:p>
            <a:pPr>
              <a:spcAft>
                <a:spcPts val="1600"/>
              </a:spcAft>
              <a:defRPr sz="2200">
                <a:solidFill>
                  <a:srgbClr val="2D3746"/>
                </a:solidFill>
              </a:defRPr>
            </a:pPr>
            <a:r>
              <a:t>3. Convert text into TF-IDF vectors.</a:t>
            </a:r>
          </a:p>
          <a:p>
            <a:pPr>
              <a:spcAft>
                <a:spcPts val="1600"/>
              </a:spcAft>
              <a:defRPr sz="2200">
                <a:solidFill>
                  <a:srgbClr val="2D3746"/>
                </a:solidFill>
              </a:defRPr>
            </a:pPr>
            <a:r>
              <a:t>4. Compute cosine similarity between the user vector and each role vector.</a:t>
            </a:r>
          </a:p>
          <a:p>
            <a:pPr>
              <a:spcAft>
                <a:spcPts val="1600"/>
              </a:spcAft>
              <a:defRPr sz="2200">
                <a:solidFill>
                  <a:srgbClr val="2D3746"/>
                </a:solidFill>
              </a:defRPr>
            </a:pPr>
            <a:r>
              <a:t>5. Sort by score and display top matches.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SkillMatch AI | AICTE Machine Learning Program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3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Example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2D3746"/>
                </a:solidFill>
              </a:defRPr>
            </a:pPr>
            <a:r>
              <a:t>Input skills: Python, SQL, Pandas</a:t>
            </a:r>
          </a:p>
          <a:p>
            <a:pPr>
              <a:spcAft>
                <a:spcPts val="1600"/>
              </a:spcAft>
              <a:defRPr sz="2200">
                <a:solidFill>
                  <a:srgbClr val="2D3746"/>
                </a:solidFill>
              </a:defRPr>
            </a:pPr>
            <a:r>
              <a:t>Possible matches: Data Analyst, Python Developer, Machine Learning Engineer</a:t>
            </a:r>
          </a:p>
          <a:p>
            <a:pPr>
              <a:spcAft>
                <a:spcPts val="1600"/>
              </a:spcAft>
              <a:defRPr sz="2200">
                <a:solidFill>
                  <a:srgbClr val="2D3746"/>
                </a:solidFill>
              </a:defRPr>
            </a:pPr>
            <a:r>
              <a:t>The exact ranking depends on the included role descriptions and selected vocabulary.</a:t>
            </a:r>
          </a:p>
          <a:p>
            <a:pPr>
              <a:spcAft>
                <a:spcPts val="1600"/>
              </a:spcAft>
              <a:defRPr sz="2200">
                <a:solidFill>
                  <a:srgbClr val="2D3746"/>
                </a:solidFill>
              </a:defRPr>
            </a:pPr>
            <a:r>
              <a:t>Similarity score is not a probability of employment.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SkillMatch AI | AICTE Machine Learning Program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3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Lean Canvas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2D3746"/>
                </a:solidFill>
              </a:defRPr>
            </a:pPr>
            <a:r>
              <a:t>Customers: students, graduates, beginner learners, career mentors.</a:t>
            </a:r>
          </a:p>
          <a:p>
            <a:pPr>
              <a:spcAft>
                <a:spcPts val="1600"/>
              </a:spcAft>
              <a:defRPr sz="2200">
                <a:solidFill>
                  <a:srgbClr val="2D3746"/>
                </a:solidFill>
              </a:defRPr>
            </a:pPr>
            <a:r>
              <a:t>Value: explainable role ideas and learning gaps.</a:t>
            </a:r>
          </a:p>
          <a:p>
            <a:pPr>
              <a:spcAft>
                <a:spcPts val="1600"/>
              </a:spcAft>
              <a:defRPr sz="2200">
                <a:solidFill>
                  <a:srgbClr val="2D3746"/>
                </a:solidFill>
              </a:defRPr>
            </a:pPr>
            <a:r>
              <a:t>Channels: student communities, college demos, placement cells, GitHub.</a:t>
            </a:r>
          </a:p>
          <a:p>
            <a:pPr>
              <a:spcAft>
                <a:spcPts val="1600"/>
              </a:spcAft>
              <a:defRPr sz="2200">
                <a:solidFill>
                  <a:srgbClr val="2D3746"/>
                </a:solidFill>
              </a:defRPr>
            </a:pPr>
            <a:r>
              <a:t>Metrics: perceived relevance, usefulness rating, completed searches.</a:t>
            </a:r>
          </a:p>
          <a:p>
            <a:pPr>
              <a:spcAft>
                <a:spcPts val="1600"/>
              </a:spcAft>
              <a:defRPr sz="2200">
                <a:solidFill>
                  <a:srgbClr val="2D3746"/>
                </a:solidFill>
              </a:defRPr>
            </a:pPr>
            <a:r>
              <a:t>Costs/revenue: prototype has no revenue; future models require validation.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SkillMatch AI | AICTE Machine Learning Program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3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Evaluation &amp;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2D3746"/>
                </a:solidFill>
              </a:defRPr>
            </a:pPr>
            <a:r>
              <a:t>Proposed test: ask 5–10 students to rate relevance and usefulness.</a:t>
            </a:r>
          </a:p>
          <a:p>
            <a:pPr>
              <a:spcAft>
                <a:spcPts val="1600"/>
              </a:spcAft>
              <a:defRPr sz="2200">
                <a:solidFill>
                  <a:srgbClr val="2D3746"/>
                </a:solidFill>
              </a:defRPr>
            </a:pPr>
            <a:r>
              <a:t>Dataset is small and illustrative; it does not represent the whole job market.</a:t>
            </a:r>
          </a:p>
          <a:p>
            <a:pPr>
              <a:spcAft>
                <a:spcPts val="1600"/>
              </a:spcAft>
              <a:defRPr sz="2200">
                <a:solidFill>
                  <a:srgbClr val="2D3746"/>
                </a:solidFill>
              </a:defRPr>
            </a:pPr>
            <a:r>
              <a:t>Text matching can miss synonyms, context, and transferable skills.</a:t>
            </a:r>
          </a:p>
          <a:p>
            <a:pPr>
              <a:spcAft>
                <a:spcPts val="1600"/>
              </a:spcAft>
              <a:defRPr sz="2200">
                <a:solidFill>
                  <a:srgbClr val="2D3746"/>
                </a:solidFill>
              </a:defRPr>
            </a:pPr>
            <a:r>
              <a:t>Do not use scores for hiring or other high-stakes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SkillMatch AI | AICTE Machine Learning Program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3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Future Scope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2D3746"/>
                </a:solidFill>
              </a:defRPr>
            </a:pPr>
            <a:r>
              <a:t>Validate with real job descriptions and user feedback.</a:t>
            </a:r>
          </a:p>
          <a:p>
            <a:pPr>
              <a:spcAft>
                <a:spcPts val="1600"/>
              </a:spcAft>
              <a:defRPr sz="2200">
                <a:solidFill>
                  <a:srgbClr val="2D3746"/>
                </a:solidFill>
              </a:defRPr>
            </a:pPr>
            <a:r>
              <a:t>Add skill synonyms, learning resources, and multilingual support.</a:t>
            </a:r>
          </a:p>
          <a:p>
            <a:pPr>
              <a:spcAft>
                <a:spcPts val="1600"/>
              </a:spcAft>
              <a:defRPr sz="2200">
                <a:solidFill>
                  <a:srgbClr val="2D3746"/>
                </a:solidFill>
              </a:defRPr>
            </a:pPr>
            <a:r>
              <a:t>Deploy the app after testing security, privacy, and reliability.</a:t>
            </a:r>
          </a:p>
          <a:p>
            <a:pPr>
              <a:spcAft>
                <a:spcPts val="1600"/>
              </a:spcAft>
              <a:defRPr sz="2200">
                <a:solidFill>
                  <a:srgbClr val="2D3746"/>
                </a:solidFill>
              </a:defRPr>
            </a:pPr>
            <a:r>
              <a:t>SkillMatch AI demonstrates an explainable NLP approach for career exploration.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SkillMatch AI | AICTE Machine Learning Program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